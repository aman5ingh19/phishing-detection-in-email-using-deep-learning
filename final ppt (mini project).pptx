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497" r:id="rId2"/>
    <p:sldId id="499" r:id="rId3"/>
    <p:sldId id="516" r:id="rId4"/>
    <p:sldId id="513" r:id="rId5"/>
    <p:sldId id="517" r:id="rId6"/>
    <p:sldId id="501" r:id="rId7"/>
    <p:sldId id="503" r:id="rId8"/>
    <p:sldId id="518" r:id="rId9"/>
    <p:sldId id="519" r:id="rId10"/>
    <p:sldId id="508" r:id="rId11"/>
    <p:sldId id="269" r:id="rId12"/>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5"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660"/>
  </p:normalViewPr>
  <p:slideViewPr>
    <p:cSldViewPr showGuides="1">
      <p:cViewPr varScale="1">
        <p:scale>
          <a:sx n="117" d="100"/>
          <a:sy n="117" d="100"/>
        </p:scale>
        <p:origin x="1020" y="84"/>
      </p:cViewPr>
      <p:guideLst>
        <p:guide orient="horz" pos="2285"/>
        <p:guide pos="2892"/>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pPr/>
              <a:t>27-04-2025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3</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4</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5</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6</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7</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pPr/>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pPr/>
              <a:t>27-04-2025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pPr/>
              <a:t>27-04-2025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sp>
        <p:nvSpPr>
          <p:cNvPr id="13" name="TextBox 12"/>
          <p:cNvSpPr txBox="1"/>
          <p:nvPr/>
        </p:nvSpPr>
        <p:spPr>
          <a:xfrm>
            <a:off x="179512" y="1196752"/>
            <a:ext cx="8784976" cy="707886"/>
          </a:xfrm>
          <a:prstGeom prst="rect">
            <a:avLst/>
          </a:prstGeom>
          <a:noFill/>
        </p:spPr>
        <p:txBody>
          <a:bodyPr wrap="square" rtlCol="0">
            <a:spAutoFit/>
          </a:bodyPr>
          <a:lstStyle/>
          <a:p>
            <a:pPr lvl="0" algn="ctr">
              <a:buSzPct val="25000"/>
            </a:pPr>
            <a:r>
              <a:rPr lang="en-IN" sz="2000" b="1" dirty="0">
                <a:latin typeface="Verdana" panose="020B0604030504040204" pitchFamily="34" charset="0"/>
                <a:ea typeface="Verdana" panose="020B0604030504040204" pitchFamily="34" charset="0"/>
                <a:cs typeface="Times New Roman" panose="02020603050405020304" pitchFamily="18" charset="0"/>
                <a:sym typeface="Arial" panose="020B0604020202020204"/>
              </a:rPr>
              <a:t>School of Engineering and Technology</a:t>
            </a:r>
          </a:p>
          <a:p>
            <a:pPr lvl="0" algn="ctr">
              <a:buSzPct val="25000"/>
            </a:pPr>
            <a:endParaRPr lang="en-IN" sz="2000" b="1" dirty="0">
              <a:latin typeface="Verdana" panose="020B0604030504040204" pitchFamily="34" charset="0"/>
              <a:ea typeface="Verdana" panose="020B0604030504040204" pitchFamily="34" charset="0"/>
              <a:cs typeface="Times New Roman" panose="02020603050405020304" pitchFamily="18" charset="0"/>
              <a:sym typeface="Arial" panose="020B0604020202020204"/>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31863"/>
            <a:ext cx="6396065" cy="767565"/>
          </a:xfrm>
          <a:prstGeom prst="rect">
            <a:avLst/>
          </a:prstGeom>
        </p:spPr>
      </p:pic>
      <p:sp>
        <p:nvSpPr>
          <p:cNvPr id="9" name="TextBox 8"/>
          <p:cNvSpPr txBox="1"/>
          <p:nvPr/>
        </p:nvSpPr>
        <p:spPr>
          <a:xfrm>
            <a:off x="751990" y="2766831"/>
            <a:ext cx="7632848" cy="1076325"/>
          </a:xfrm>
          <a:prstGeom prst="rect">
            <a:avLst/>
          </a:prstGeom>
          <a:noFill/>
        </p:spPr>
        <p:txBody>
          <a:bodyPr wrap="square" rtlCol="0">
            <a:spAutoFit/>
          </a:bodyPr>
          <a:lstStyle/>
          <a:p>
            <a:pPr algn="ctr"/>
            <a:r>
              <a:rPr lang="en-IN" sz="3200" b="1" dirty="0">
                <a:solidFill>
                  <a:srgbClr val="0060AA"/>
                </a:solidFill>
                <a:latin typeface="Algerian" panose="04020705040A02060702" pitchFamily="82" charset="0"/>
              </a:rPr>
              <a:t>Phishing Detection in Email using </a:t>
            </a:r>
          </a:p>
          <a:p>
            <a:pPr algn="ctr"/>
            <a:r>
              <a:rPr lang="en-IN" sz="3200" b="1" dirty="0">
                <a:solidFill>
                  <a:srgbClr val="0060AA"/>
                </a:solidFill>
                <a:latin typeface="Algerian" panose="04020705040A02060702" pitchFamily="82" charset="0"/>
              </a:rPr>
              <a:t>Deep learning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260648"/>
            <a:ext cx="38811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solidFill>
                  <a:srgbClr val="E31E24"/>
                </a:solidFill>
                <a:latin typeface="Verdana" panose="020B0604030504040204" pitchFamily="34" charset="0"/>
                <a:cs typeface="Times New Roman" panose="02020603050405020304" pitchFamily="18" charset="0"/>
                <a:sym typeface="Arial" panose="020B0604020202020204"/>
              </a:rPr>
              <a:t>INTRODUCTION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232" y="184033"/>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56E141F-8511-A08B-6D8A-C6B256B73E74}"/>
              </a:ext>
            </a:extLst>
          </p:cNvPr>
          <p:cNvGraphicFramePr>
            <a:graphicFrameLocks noGrp="1"/>
          </p:cNvGraphicFramePr>
          <p:nvPr>
            <p:extLst>
              <p:ext uri="{D42A27DB-BD31-4B8C-83A1-F6EECF244321}">
                <p14:modId xmlns:p14="http://schemas.microsoft.com/office/powerpoint/2010/main" val="59342651"/>
              </p:ext>
            </p:extLst>
          </p:nvPr>
        </p:nvGraphicFramePr>
        <p:xfrm>
          <a:off x="1524000" y="1397000"/>
          <a:ext cx="6096000" cy="1112520"/>
        </p:xfrm>
        <a:graphic>
          <a:graphicData uri="http://schemas.openxmlformats.org/drawingml/2006/table">
            <a:tbl>
              <a:tblPr firstRow="1" bandRow="1">
                <a:tableStyleId>{5C22544A-7EE6-4342-B048-85BDC9FD1C3A}</a:tableStyleId>
              </a:tblPr>
              <a:tblGrid>
                <a:gridCol w="959768">
                  <a:extLst>
                    <a:ext uri="{9D8B030D-6E8A-4147-A177-3AD203B41FA5}">
                      <a16:colId xmlns:a16="http://schemas.microsoft.com/office/drawing/2014/main" val="2203278887"/>
                    </a:ext>
                  </a:extLst>
                </a:gridCol>
                <a:gridCol w="3104232">
                  <a:extLst>
                    <a:ext uri="{9D8B030D-6E8A-4147-A177-3AD203B41FA5}">
                      <a16:colId xmlns:a16="http://schemas.microsoft.com/office/drawing/2014/main" val="445507230"/>
                    </a:ext>
                  </a:extLst>
                </a:gridCol>
                <a:gridCol w="2032000">
                  <a:extLst>
                    <a:ext uri="{9D8B030D-6E8A-4147-A177-3AD203B41FA5}">
                      <a16:colId xmlns:a16="http://schemas.microsoft.com/office/drawing/2014/main" val="3702568455"/>
                    </a:ext>
                  </a:extLst>
                </a:gridCol>
              </a:tblGrid>
              <a:tr h="370840">
                <a:tc>
                  <a:txBody>
                    <a:bodyPr/>
                    <a:lstStyle/>
                    <a:p>
                      <a:r>
                        <a:rPr lang="en-IN" dirty="0" err="1"/>
                        <a:t>S.No</a:t>
                      </a:r>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290404174"/>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09580829"/>
                  </a:ext>
                </a:extLst>
              </a:tr>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208400312"/>
                  </a:ext>
                </a:extLst>
              </a:tr>
            </a:tbl>
          </a:graphicData>
        </a:graphic>
      </p:graphicFrame>
      <p:graphicFrame>
        <p:nvGraphicFramePr>
          <p:cNvPr id="8" name="Table 7">
            <a:extLst>
              <a:ext uri="{FF2B5EF4-FFF2-40B4-BE49-F238E27FC236}">
                <a16:creationId xmlns:a16="http://schemas.microsoft.com/office/drawing/2014/main" id="{11038A13-5C8C-C419-0C5C-3D367B95D26A}"/>
              </a:ext>
            </a:extLst>
          </p:cNvPr>
          <p:cNvGraphicFramePr>
            <a:graphicFrameLocks noGrp="1"/>
          </p:cNvGraphicFramePr>
          <p:nvPr>
            <p:extLst>
              <p:ext uri="{D42A27DB-BD31-4B8C-83A1-F6EECF244321}">
                <p14:modId xmlns:p14="http://schemas.microsoft.com/office/powerpoint/2010/main" val="6755327"/>
              </p:ext>
            </p:extLst>
          </p:nvPr>
        </p:nvGraphicFramePr>
        <p:xfrm>
          <a:off x="1376596" y="1407277"/>
          <a:ext cx="6507772" cy="2565400"/>
        </p:xfrm>
        <a:graphic>
          <a:graphicData uri="http://schemas.openxmlformats.org/drawingml/2006/table">
            <a:tbl>
              <a:tblPr firstRow="1" bandRow="1">
                <a:tableStyleId>{5C22544A-7EE6-4342-B048-85BDC9FD1C3A}</a:tableStyleId>
              </a:tblPr>
              <a:tblGrid>
                <a:gridCol w="1181959">
                  <a:extLst>
                    <a:ext uri="{9D8B030D-6E8A-4147-A177-3AD203B41FA5}">
                      <a16:colId xmlns:a16="http://schemas.microsoft.com/office/drawing/2014/main" val="3937605403"/>
                    </a:ext>
                  </a:extLst>
                </a:gridCol>
                <a:gridCol w="3156556">
                  <a:extLst>
                    <a:ext uri="{9D8B030D-6E8A-4147-A177-3AD203B41FA5}">
                      <a16:colId xmlns:a16="http://schemas.microsoft.com/office/drawing/2014/main" val="2872457184"/>
                    </a:ext>
                  </a:extLst>
                </a:gridCol>
                <a:gridCol w="2169257">
                  <a:extLst>
                    <a:ext uri="{9D8B030D-6E8A-4147-A177-3AD203B41FA5}">
                      <a16:colId xmlns:a16="http://schemas.microsoft.com/office/drawing/2014/main" val="1312482843"/>
                    </a:ext>
                  </a:extLst>
                </a:gridCol>
              </a:tblGrid>
              <a:tr h="370840">
                <a:tc>
                  <a:txBody>
                    <a:bodyPr/>
                    <a:lstStyle/>
                    <a:p>
                      <a:r>
                        <a:rPr lang="en-IN" dirty="0" err="1"/>
                        <a:t>S.No</a:t>
                      </a:r>
                      <a:endParaRPr lang="en-IN" dirty="0"/>
                    </a:p>
                  </a:txBody>
                  <a:tcPr/>
                </a:tc>
                <a:tc>
                  <a:txBody>
                    <a:bodyPr/>
                    <a:lstStyle/>
                    <a:p>
                      <a:r>
                        <a:rPr lang="en-IN" dirty="0"/>
                        <a:t>NAME</a:t>
                      </a:r>
                    </a:p>
                  </a:txBody>
                  <a:tcPr/>
                </a:tc>
                <a:tc>
                  <a:txBody>
                    <a:bodyPr/>
                    <a:lstStyle/>
                    <a:p>
                      <a:r>
                        <a:rPr lang="en-IN" dirty="0"/>
                        <a:t>ROLE</a:t>
                      </a:r>
                    </a:p>
                  </a:txBody>
                  <a:tcPr/>
                </a:tc>
                <a:extLst>
                  <a:ext uri="{0D108BD9-81ED-4DB2-BD59-A6C34878D82A}">
                    <a16:rowId xmlns:a16="http://schemas.microsoft.com/office/drawing/2014/main" val="3837797445"/>
                  </a:ext>
                </a:extLst>
              </a:tr>
              <a:tr h="370840">
                <a:tc>
                  <a:txBody>
                    <a:bodyPr/>
                    <a:lstStyle/>
                    <a:p>
                      <a:r>
                        <a:rPr lang="en-IN" dirty="0"/>
                        <a:t>1.</a:t>
                      </a:r>
                    </a:p>
                  </a:txBody>
                  <a:tcPr/>
                </a:tc>
                <a:tc>
                  <a:txBody>
                    <a:bodyPr/>
                    <a:lstStyle/>
                    <a:p>
                      <a:r>
                        <a:rPr lang="en-IN" dirty="0" err="1"/>
                        <a:t>Vanshika</a:t>
                      </a:r>
                      <a:r>
                        <a:rPr lang="en-IN" dirty="0"/>
                        <a:t> Sharma</a:t>
                      </a:r>
                    </a:p>
                    <a:p>
                      <a:r>
                        <a:rPr lang="en-IN" dirty="0"/>
                        <a:t>(2301010368)</a:t>
                      </a:r>
                    </a:p>
                  </a:txBody>
                  <a:tcPr/>
                </a:tc>
                <a:tc>
                  <a:txBody>
                    <a:bodyPr/>
                    <a:lstStyle/>
                    <a:p>
                      <a:r>
                        <a:rPr lang="en-IN" dirty="0" err="1"/>
                        <a:t>Report,Research</a:t>
                      </a:r>
                      <a:r>
                        <a:rPr lang="en-IN" dirty="0"/>
                        <a:t> </a:t>
                      </a:r>
                      <a:r>
                        <a:rPr lang="en-IN" dirty="0" err="1"/>
                        <a:t>work,Exp</a:t>
                      </a:r>
                      <a:r>
                        <a:rPr lang="en-IN" dirty="0"/>
                        <a:t> 1{Glove Embedding}</a:t>
                      </a:r>
                    </a:p>
                  </a:txBody>
                  <a:tcPr/>
                </a:tc>
                <a:extLst>
                  <a:ext uri="{0D108BD9-81ED-4DB2-BD59-A6C34878D82A}">
                    <a16:rowId xmlns:a16="http://schemas.microsoft.com/office/drawing/2014/main" val="3452669888"/>
                  </a:ext>
                </a:extLst>
              </a:tr>
              <a:tr h="370840">
                <a:tc>
                  <a:txBody>
                    <a:bodyPr/>
                    <a:lstStyle/>
                    <a:p>
                      <a:r>
                        <a:rPr lang="en-IN" dirty="0"/>
                        <a:t>2.</a:t>
                      </a:r>
                    </a:p>
                  </a:txBody>
                  <a:tcPr/>
                </a:tc>
                <a:tc>
                  <a:txBody>
                    <a:bodyPr/>
                    <a:lstStyle/>
                    <a:p>
                      <a:r>
                        <a:rPr lang="en-IN" dirty="0" err="1"/>
                        <a:t>Srishti</a:t>
                      </a:r>
                      <a:r>
                        <a:rPr lang="en-IN" dirty="0"/>
                        <a:t> </a:t>
                      </a:r>
                      <a:r>
                        <a:rPr lang="en-IN" dirty="0" err="1"/>
                        <a:t>Verma</a:t>
                      </a:r>
                      <a:endParaRPr lang="en-IN" dirty="0"/>
                    </a:p>
                    <a:p>
                      <a:r>
                        <a:rPr lang="en-IN" dirty="0"/>
                        <a:t>(2301010350)</a:t>
                      </a:r>
                    </a:p>
                  </a:txBody>
                  <a:tcPr/>
                </a:tc>
                <a:tc>
                  <a:txBody>
                    <a:bodyPr/>
                    <a:lstStyle/>
                    <a:p>
                      <a:r>
                        <a:rPr lang="en-IN" dirty="0"/>
                        <a:t>Presentation2,{Word2Vec}</a:t>
                      </a:r>
                    </a:p>
                  </a:txBody>
                  <a:tcPr/>
                </a:tc>
                <a:extLst>
                  <a:ext uri="{0D108BD9-81ED-4DB2-BD59-A6C34878D82A}">
                    <a16:rowId xmlns:a16="http://schemas.microsoft.com/office/drawing/2014/main" val="2270719390"/>
                  </a:ext>
                </a:extLst>
              </a:tr>
              <a:tr h="370840">
                <a:tc>
                  <a:txBody>
                    <a:bodyPr/>
                    <a:lstStyle/>
                    <a:p>
                      <a:r>
                        <a:rPr lang="en-IN" dirty="0"/>
                        <a:t>3.</a:t>
                      </a:r>
                    </a:p>
                  </a:txBody>
                  <a:tcPr/>
                </a:tc>
                <a:tc>
                  <a:txBody>
                    <a:bodyPr/>
                    <a:lstStyle/>
                    <a:p>
                      <a:r>
                        <a:rPr lang="en-IN" dirty="0" err="1"/>
                        <a:t>Aman</a:t>
                      </a:r>
                      <a:r>
                        <a:rPr lang="en-IN" dirty="0"/>
                        <a:t> Singh</a:t>
                      </a:r>
                    </a:p>
                    <a:p>
                      <a:r>
                        <a:rPr lang="en-IN" dirty="0"/>
                        <a:t>(2301010352)</a:t>
                      </a:r>
                    </a:p>
                  </a:txBody>
                  <a:tcPr/>
                </a:tc>
                <a:tc>
                  <a:txBody>
                    <a:bodyPr/>
                    <a:lstStyle/>
                    <a:p>
                      <a:r>
                        <a:rPr lang="en-IN" dirty="0"/>
                        <a:t>Presentation1,{</a:t>
                      </a:r>
                      <a:r>
                        <a:rPr lang="en-IN" dirty="0" err="1"/>
                        <a:t>FastText</a:t>
                      </a:r>
                      <a:r>
                        <a:rPr lang="en-IN" dirty="0"/>
                        <a:t> based}</a:t>
                      </a:r>
                    </a:p>
                  </a:txBody>
                  <a:tcPr/>
                </a:tc>
                <a:extLst>
                  <a:ext uri="{0D108BD9-81ED-4DB2-BD59-A6C34878D82A}">
                    <a16:rowId xmlns:a16="http://schemas.microsoft.com/office/drawing/2014/main" val="3846797501"/>
                  </a:ext>
                </a:extLst>
              </a:tr>
            </a:tbl>
          </a:graphicData>
        </a:graphic>
      </p:graphicFrame>
      <p:sp>
        <p:nvSpPr>
          <p:cNvPr id="10" name="Rectangle 9"/>
          <p:cNvSpPr/>
          <p:nvPr/>
        </p:nvSpPr>
        <p:spPr>
          <a:xfrm>
            <a:off x="1428728" y="4429132"/>
            <a:ext cx="6715172" cy="646331"/>
          </a:xfrm>
          <a:prstGeom prst="rect">
            <a:avLst/>
          </a:prstGeom>
        </p:spPr>
        <p:txBody>
          <a:bodyPr wrap="square">
            <a:spAutoFit/>
          </a:bodyPr>
          <a:lstStyle/>
          <a:p>
            <a:r>
              <a:rPr lang="en-GB" dirty="0"/>
              <a:t>All three have sincerely supported and assisted one another throughout the project, and their cooperation is deeply appreciated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251937"/>
            <a:ext cx="30973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Introduction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175873"/>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395605" y="1196340"/>
            <a:ext cx="8412480" cy="5026660"/>
          </a:xfrm>
          <a:prstGeom prst="rect">
            <a:avLst/>
          </a:prstGeom>
          <a:noFill/>
        </p:spPr>
        <p:txBody>
          <a:bodyPr wrap="square" rtlCol="0">
            <a:noAutofit/>
          </a:bodyPr>
          <a:lstStyle/>
          <a:p>
            <a:pPr>
              <a:buNone/>
            </a:pPr>
            <a:r>
              <a:rPr lang="en-GB" dirty="0"/>
              <a:t>Email’s widespread use has made it a prime target for phishing attacks, which pose serious risks to individuals and organizations by stealing sensitive information like passwords and financial details. Traditional detection methods often fall short against increasingly sophisticated threats. This mini-project aims to apply deep learning techniques to improve phishing detection in emails. By leveraging neural networks to analyze email content and metadata, we seek to build a more accurate and adaptive system. The project explores architectures like RNNs and CNNs to enhance email security through intelligent threat identification.</a:t>
            </a:r>
            <a:endParaRPr lang="en-US" altLang="en-GB" dirty="0">
              <a:solidFill>
                <a:schemeClr val="tx1">
                  <a:lumMod val="95000"/>
                  <a:lumOff val="5000"/>
                </a:schemeClr>
              </a:solidFill>
            </a:endParaRPr>
          </a:p>
        </p:txBody>
      </p:sp>
      <p:pic>
        <p:nvPicPr>
          <p:cNvPr id="15362" name="Picture 2" descr="Deep Learning for Phishing Attack Detection"/>
          <p:cNvPicPr>
            <a:picLocks noGrp="1" noChangeAspect="1" noChangeArrowheads="1"/>
          </p:cNvPicPr>
          <p:nvPr>
            <p:ph idx="1"/>
          </p:nvPr>
        </p:nvPicPr>
        <p:blipFill>
          <a:blip r:embed="rId4"/>
          <a:srcRect/>
          <a:stretch>
            <a:fillRect/>
          </a:stretch>
        </p:blipFill>
        <p:spPr bwMode="auto">
          <a:xfrm>
            <a:off x="4214810" y="3857628"/>
            <a:ext cx="3750180" cy="1848619"/>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251937"/>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a:t>
            </a: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Statement</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197633"/>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 Box 1"/>
          <p:cNvSpPr txBox="1"/>
          <p:nvPr/>
        </p:nvSpPr>
        <p:spPr>
          <a:xfrm>
            <a:off x="255270" y="1363345"/>
            <a:ext cx="8353425" cy="4977130"/>
          </a:xfrm>
          <a:prstGeom prst="rect">
            <a:avLst/>
          </a:prstGeom>
          <a:noFill/>
        </p:spPr>
        <p:txBody>
          <a:bodyPr wrap="square" rtlCol="0">
            <a:noAutofit/>
          </a:bodyPr>
          <a:lstStyle/>
          <a:p>
            <a:r>
              <a:rPr lang="en-IN" altLang="en-US" dirty="0"/>
              <a:t>T</a:t>
            </a:r>
            <a:r>
              <a:rPr lang="en-US" altLang="en-GB" dirty="0"/>
              <a:t>his study aims to develop a deep learning-based phishing detection model using NLP, CNNs, and RNNs to analyze email content and metadata, enhancing accuracy and reducing false alerts.</a:t>
            </a:r>
          </a:p>
          <a:p>
            <a:endParaRPr lang="en-US" altLang="en-GB" dirty="0"/>
          </a:p>
        </p:txBody>
      </p:sp>
      <p:pic>
        <p:nvPicPr>
          <p:cNvPr id="13314" name="Picture 2" descr="Phishing mail detection model uses ..."/>
          <p:cNvPicPr>
            <a:picLocks noGrp="1" noChangeAspect="1" noChangeArrowheads="1"/>
          </p:cNvPicPr>
          <p:nvPr>
            <p:ph idx="1"/>
          </p:nvPr>
        </p:nvPicPr>
        <p:blipFill>
          <a:blip r:embed="rId4"/>
          <a:srcRect/>
          <a:stretch>
            <a:fillRect/>
          </a:stretch>
        </p:blipFill>
        <p:spPr bwMode="auto">
          <a:xfrm>
            <a:off x="3071802" y="2714620"/>
            <a:ext cx="5025916" cy="321658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7504" y="467961"/>
            <a:ext cx="835292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and Implementation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6744" y="129981"/>
            <a:ext cx="2411760" cy="346691"/>
          </a:xfrm>
          <a:prstGeom prst="rect">
            <a:avLst/>
          </a:prstGeom>
        </p:spPr>
      </p:pic>
      <p:sp>
        <p:nvSpPr>
          <p:cNvPr id="6" name="TextBox 5"/>
          <p:cNvSpPr txBox="1"/>
          <p:nvPr/>
        </p:nvSpPr>
        <p:spPr>
          <a:xfrm>
            <a:off x="179512" y="1340189"/>
            <a:ext cx="8784976" cy="3505703"/>
          </a:xfrm>
          <a:prstGeom prst="rect">
            <a:avLst/>
          </a:prstGeom>
          <a:noFill/>
        </p:spPr>
        <p:txBody>
          <a:bodyPr wrap="square">
            <a:spAutoFit/>
          </a:bodyPr>
          <a:lstStyle/>
          <a:p>
            <a:pPr marL="0" marR="0" algn="just" fontAlgn="base">
              <a:lnSpc>
                <a:spcPct val="107000"/>
              </a:lnSpc>
              <a:spcBef>
                <a:spcPts val="0"/>
              </a:spcBef>
              <a:spcAft>
                <a:spcPts val="0"/>
              </a:spcAft>
            </a:pPr>
            <a:endParaRPr lang="en-US" altLang="en-GB" sz="1600" kern="100" dirty="0">
              <a:effectLst/>
              <a:latin typeface="+mj-lt"/>
              <a:ea typeface="Calibri" panose="020F0502020204030204" pitchFamily="34" charset="0"/>
              <a:cs typeface="Times New Roman" panose="02020603050405020304" pitchFamily="18" charset="0"/>
            </a:endParaRPr>
          </a:p>
          <a:p>
            <a:pPr marL="342900" marR="0" indent="-342900" algn="just" fontAlgn="base">
              <a:lnSpc>
                <a:spcPct val="107000"/>
              </a:lnSpc>
              <a:spcBef>
                <a:spcPts val="0"/>
              </a:spcBef>
              <a:spcAft>
                <a:spcPts val="0"/>
              </a:spcAft>
              <a:buAutoNum type="arabicPeriod"/>
            </a:pPr>
            <a:r>
              <a:rPr lang="en-US" altLang="en-GB" sz="1600" kern="100" dirty="0">
                <a:effectLst/>
                <a:latin typeface="+mj-lt"/>
                <a:ea typeface="Calibri" panose="020F0502020204030204" pitchFamily="34" charset="0"/>
                <a:cs typeface="Times New Roman" panose="02020603050405020304" pitchFamily="18" charset="0"/>
              </a:rPr>
              <a:t>Dataset Collection – Gather phishing and legitimate emails from a public dataset.  </a:t>
            </a:r>
          </a:p>
          <a:p>
            <a:pPr marL="342900" marR="0" indent="-342900" algn="just" fontAlgn="base">
              <a:lnSpc>
                <a:spcPct val="107000"/>
              </a:lnSpc>
              <a:spcBef>
                <a:spcPts val="0"/>
              </a:spcBef>
              <a:spcAft>
                <a:spcPts val="0"/>
              </a:spcAft>
              <a:buAutoNum type="arabicPeriod"/>
            </a:pPr>
            <a:r>
              <a:rPr lang="en-US" altLang="en-GB" sz="1600" kern="100" dirty="0">
                <a:latin typeface="+mj-lt"/>
                <a:ea typeface="Calibri" panose="020F0502020204030204" pitchFamily="34" charset="0"/>
                <a:cs typeface="Times New Roman" panose="02020603050405020304" pitchFamily="18" charset="0"/>
              </a:rPr>
              <a:t>Dataset used in project-"C:\Users\verma\Desktop\spam 3 - Copy.csv"</a:t>
            </a:r>
            <a:endParaRPr lang="en-US" altLang="en-GB" sz="16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2. Emails Preprocessing – Clean the text, remove duplicates, and ensure class balance.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3. Model Training &amp; Optimization – Train deep learning models (CNNs, RNNs) to detect phishing patterns.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4. Feature Extraction – Convert email content and metadata into numerical representations for analysis.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5. Classification – The model predicts whether an email is phishing or legitimate.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6. Phishing Email – If classified as phishing, it is flagged as a threat.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7. Safe Email – If classified as legitimate, it proceeds to evaluation.  </a:t>
            </a:r>
          </a:p>
          <a:p>
            <a:pPr marL="0" marR="0" algn="just" fontAlgn="base">
              <a:lnSpc>
                <a:spcPct val="107000"/>
              </a:lnSpc>
              <a:spcBef>
                <a:spcPts val="0"/>
              </a:spcBef>
              <a:spcAft>
                <a:spcPts val="0"/>
              </a:spcAft>
            </a:pPr>
            <a:r>
              <a:rPr lang="en-US" altLang="en-GB" sz="1600" kern="100" dirty="0">
                <a:effectLst/>
                <a:latin typeface="+mj-lt"/>
                <a:ea typeface="Calibri" panose="020F0502020204030204" pitchFamily="34" charset="0"/>
                <a:cs typeface="Times New Roman" panose="02020603050405020304" pitchFamily="18" charset="0"/>
              </a:rPr>
              <a:t>8. Evaluation– Assess model performance using accuracy, precision, recall, and F1-score.  </a:t>
            </a:r>
          </a:p>
          <a:p>
            <a:pPr marL="0" marR="0" algn="just" fontAlgn="base">
              <a:lnSpc>
                <a:spcPct val="107000"/>
              </a:lnSpc>
              <a:spcBef>
                <a:spcPts val="0"/>
              </a:spcBef>
              <a:spcAft>
                <a:spcPts val="0"/>
              </a:spcAft>
            </a:pPr>
            <a:endParaRPr lang="en-US" altLang="en-GB" sz="1600" kern="100" dirty="0">
              <a:effectLst/>
              <a:latin typeface="+mj-lt"/>
              <a:ea typeface="Calibri" panose="020F0502020204030204" pitchFamily="34" charset="0"/>
              <a:cs typeface="Times New Roman" panose="02020603050405020304" pitchFamily="18" charset="0"/>
            </a:endParaRPr>
          </a:p>
          <a:p>
            <a:pPr marL="0" marR="0" algn="just" fontAlgn="base">
              <a:lnSpc>
                <a:spcPct val="107000"/>
              </a:lnSpc>
              <a:spcBef>
                <a:spcPts val="0"/>
              </a:spcBef>
              <a:spcAft>
                <a:spcPts val="0"/>
              </a:spcAft>
            </a:pPr>
            <a:endParaRPr lang="zh-CN" altLang="en-US" sz="16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323945"/>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solidFill>
                  <a:srgbClr val="E31E24"/>
                </a:solidFill>
                <a:latin typeface="Verdana" panose="020B0604030504040204" pitchFamily="34" charset="0"/>
                <a:cs typeface="Times New Roman" panose="02020603050405020304" pitchFamily="18" charset="0"/>
                <a:sym typeface="Arial" panose="020B0604020202020204"/>
              </a:rPr>
              <a:t>Demonstration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18559" y="150599"/>
            <a:ext cx="2411760" cy="346691"/>
          </a:xfrm>
          <a:prstGeom prst="rect">
            <a:avLst/>
          </a:prstGeom>
        </p:spPr>
      </p:pic>
      <p:pic>
        <p:nvPicPr>
          <p:cNvPr id="3" name="Picture 2" descr="methadology"/>
          <p:cNvPicPr>
            <a:picLocks noChangeAspect="1"/>
          </p:cNvPicPr>
          <p:nvPr/>
        </p:nvPicPr>
        <p:blipFill>
          <a:blip r:embed="rId5"/>
          <a:stretch>
            <a:fillRect/>
          </a:stretch>
        </p:blipFill>
        <p:spPr>
          <a:xfrm>
            <a:off x="107315" y="2267585"/>
            <a:ext cx="8953500" cy="23228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4605" y="8255"/>
            <a:ext cx="9230360" cy="6921500"/>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Result and Discussion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 Box 7"/>
          <p:cNvSpPr txBox="1"/>
          <p:nvPr/>
        </p:nvSpPr>
        <p:spPr>
          <a:xfrm>
            <a:off x="367665" y="1191260"/>
            <a:ext cx="8291830" cy="4504690"/>
          </a:xfrm>
          <a:prstGeom prst="rect">
            <a:avLst/>
          </a:prstGeom>
          <a:noFill/>
        </p:spPr>
        <p:txBody>
          <a:bodyPr wrap="square" rtlCol="0">
            <a:noAutofit/>
          </a:bodyPr>
          <a:lstStyle/>
          <a:p>
            <a:r>
              <a:rPr lang="en-US" altLang="en-GB">
                <a:solidFill>
                  <a:schemeClr val="tx1">
                    <a:lumMod val="95000"/>
                    <a:lumOff val="5000"/>
                  </a:schemeClr>
                </a:solidFill>
              </a:rPr>
              <a:t>Experiment 1: GloVe-Based Spam Email Classification</a:t>
            </a:r>
          </a:p>
          <a:p>
            <a:endParaRPr lang="en-US" altLang="en-GB">
              <a:solidFill>
                <a:schemeClr val="tx1">
                  <a:lumMod val="95000"/>
                  <a:lumOff val="5000"/>
                </a:schemeClr>
              </a:solidFill>
            </a:endParaRPr>
          </a:p>
          <a:p>
            <a:r>
              <a:rPr lang="en-US" altLang="en-GB">
                <a:solidFill>
                  <a:schemeClr val="tx1">
                    <a:lumMod val="95000"/>
                    <a:lumOff val="5000"/>
                  </a:schemeClr>
                </a:solidFill>
              </a:rPr>
              <a:t>GloVe embeddings transform email text into numerical vectors for spam classification using SVM, AdaBoost, and Random Forest models</a:t>
            </a:r>
          </a:p>
          <a:p>
            <a:r>
              <a:rPr lang="en-US" altLang="en-GB">
                <a:solidFill>
                  <a:schemeClr val="tx1">
                    <a:lumMod val="95000"/>
                    <a:lumOff val="5000"/>
                  </a:schemeClr>
                </a:solidFill>
              </a:rPr>
              <a:t> .</a:t>
            </a:r>
          </a:p>
          <a:p>
            <a:endParaRPr lang="en-US" altLang="en-GB">
              <a:solidFill>
                <a:schemeClr val="tx1">
                  <a:lumMod val="95000"/>
                  <a:lumOff val="5000"/>
                </a:schemeClr>
              </a:solidFill>
            </a:endParaRPr>
          </a:p>
          <a:p>
            <a:endParaRPr lang="en-US" altLang="en-GB">
              <a:solidFill>
                <a:schemeClr val="tx1">
                  <a:lumMod val="95000"/>
                  <a:lumOff val="5000"/>
                </a:schemeClr>
              </a:solidFill>
            </a:endParaRPr>
          </a:p>
          <a:p>
            <a:endParaRPr lang="en-US" altLang="en-GB">
              <a:solidFill>
                <a:schemeClr val="tx1">
                  <a:lumMod val="95000"/>
                  <a:lumOff val="5000"/>
                </a:schemeClr>
              </a:solidFill>
            </a:endParaRPr>
          </a:p>
          <a:p>
            <a:endParaRPr lang="en-US" altLang="en-GB">
              <a:solidFill>
                <a:schemeClr val="tx1">
                  <a:lumMod val="95000"/>
                  <a:lumOff val="5000"/>
                </a:schemeClr>
              </a:solidFill>
            </a:endParaRPr>
          </a:p>
          <a:p>
            <a:endParaRPr lang="en-US" altLang="en-GB">
              <a:solidFill>
                <a:schemeClr val="tx1">
                  <a:lumMod val="95000"/>
                  <a:lumOff val="5000"/>
                </a:schemeClr>
              </a:solidFill>
            </a:endParaRPr>
          </a:p>
          <a:p>
            <a:endParaRPr lang="en-US" altLang="en-GB">
              <a:solidFill>
                <a:schemeClr val="tx1">
                  <a:lumMod val="95000"/>
                  <a:lumOff val="5000"/>
                </a:schemeClr>
              </a:solidFill>
            </a:endParaRPr>
          </a:p>
          <a:p>
            <a:endParaRPr lang="en-US" altLang="en-GB">
              <a:solidFill>
                <a:schemeClr val="tx1">
                  <a:lumMod val="95000"/>
                  <a:lumOff val="5000"/>
                </a:schemeClr>
              </a:solidFill>
            </a:endParaRPr>
          </a:p>
          <a:p>
            <a:r>
              <a:rPr lang="en-IN" altLang="en-US">
                <a:solidFill>
                  <a:schemeClr val="tx1">
                    <a:lumMod val="95000"/>
                    <a:lumOff val="5000"/>
                  </a:schemeClr>
                </a:solidFill>
              </a:rPr>
              <a:t>                                                                                                                                                                                                         </a:t>
            </a: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a:p>
            <a:endParaRPr lang="en-IN" altLang="en-US">
              <a:solidFill>
                <a:schemeClr val="tx1">
                  <a:lumMod val="95000"/>
                  <a:lumOff val="5000"/>
                </a:schemeClr>
              </a:solidFill>
            </a:endParaRPr>
          </a:p>
        </p:txBody>
      </p:sp>
      <p:pic>
        <p:nvPicPr>
          <p:cNvPr id="2" name="Picture 1" descr="Screenshot (150)"/>
          <p:cNvPicPr>
            <a:picLocks noChangeAspect="1"/>
          </p:cNvPicPr>
          <p:nvPr/>
        </p:nvPicPr>
        <p:blipFill>
          <a:blip r:embed="rId5" cstate="print"/>
          <a:stretch>
            <a:fillRect/>
          </a:stretch>
        </p:blipFill>
        <p:spPr>
          <a:xfrm>
            <a:off x="3564255" y="4103370"/>
            <a:ext cx="3247390" cy="2552700"/>
          </a:xfrm>
          <a:prstGeom prst="rect">
            <a:avLst/>
          </a:prstGeom>
        </p:spPr>
      </p:pic>
      <p:pic>
        <p:nvPicPr>
          <p:cNvPr id="12" name="Picture 7" descr="IMG_256"/>
          <p:cNvPicPr>
            <a:picLocks noChangeAspect="1"/>
          </p:cNvPicPr>
          <p:nvPr/>
        </p:nvPicPr>
        <p:blipFill>
          <a:blip r:embed="rId6"/>
          <a:stretch>
            <a:fillRect/>
          </a:stretch>
        </p:blipFill>
        <p:spPr>
          <a:xfrm>
            <a:off x="1763713" y="2636203"/>
            <a:ext cx="5728335" cy="103187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Text Box 4"/>
          <p:cNvSpPr txBox="1"/>
          <p:nvPr/>
        </p:nvSpPr>
        <p:spPr>
          <a:xfrm>
            <a:off x="582295" y="341630"/>
            <a:ext cx="7927975" cy="6315075"/>
          </a:xfrm>
          <a:prstGeom prst="rect">
            <a:avLst/>
          </a:prstGeom>
          <a:noFill/>
        </p:spPr>
        <p:txBody>
          <a:bodyPr wrap="square" rtlCol="0">
            <a:noAutofit/>
          </a:bodyPr>
          <a:lstStyle/>
          <a:p>
            <a:r>
              <a:rPr lang="en-US" altLang="en-GB"/>
              <a:t>Experiment 2 :FastText-Based Spam Email Classification</a:t>
            </a:r>
          </a:p>
          <a:p>
            <a:endParaRPr lang="en-US" altLang="en-GB"/>
          </a:p>
          <a:p>
            <a:r>
              <a:rPr lang="en-US" altLang="en-GB"/>
              <a:t>Random Forest and LinearSVC outperform AdaBoost in spam classification, with Random Forest excelling in feature importance and generalization, while LinearSVC demonstrates strong discrimination capabilities.</a:t>
            </a:r>
          </a:p>
        </p:txBody>
      </p:sp>
      <p:pic>
        <p:nvPicPr>
          <p:cNvPr id="10" name="Picture 5" descr="IMG_256"/>
          <p:cNvPicPr>
            <a:picLocks noChangeAspect="1"/>
          </p:cNvPicPr>
          <p:nvPr/>
        </p:nvPicPr>
        <p:blipFill>
          <a:blip r:embed="rId3" cstate="print"/>
          <a:stretch>
            <a:fillRect/>
          </a:stretch>
        </p:blipFill>
        <p:spPr>
          <a:xfrm>
            <a:off x="1619250" y="2204720"/>
            <a:ext cx="5749290" cy="1049020"/>
          </a:xfrm>
          <a:prstGeom prst="rect">
            <a:avLst/>
          </a:prstGeom>
          <a:noFill/>
          <a:ln w="9525">
            <a:noFill/>
          </a:ln>
        </p:spPr>
      </p:pic>
      <p:pic>
        <p:nvPicPr>
          <p:cNvPr id="49505076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699068" y="3716338"/>
            <a:ext cx="3709035" cy="2935605"/>
          </a:xfrm>
          <a:prstGeom prst="rect">
            <a:avLst/>
          </a:prstGeom>
          <a:noFill/>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Text Box 4"/>
          <p:cNvSpPr txBox="1"/>
          <p:nvPr/>
        </p:nvSpPr>
        <p:spPr>
          <a:xfrm>
            <a:off x="575310" y="600710"/>
            <a:ext cx="7740650" cy="6054090"/>
          </a:xfrm>
          <a:prstGeom prst="rect">
            <a:avLst/>
          </a:prstGeom>
          <a:noFill/>
        </p:spPr>
        <p:txBody>
          <a:bodyPr wrap="square" rtlCol="0">
            <a:noAutofit/>
          </a:bodyPr>
          <a:lstStyle/>
          <a:p>
            <a:r>
              <a:rPr lang="en-US" altLang="en-GB"/>
              <a:t>Experiment 3: Word2Vec-Based Spam Email Classification</a:t>
            </a:r>
          </a:p>
          <a:p>
            <a:endParaRPr lang="en-GB" altLang="en-US"/>
          </a:p>
          <a:p>
            <a:r>
              <a:rPr lang="en-US" altLang="en-GB"/>
              <a:t>Using GloVe embeddings for spam classification, Random Forest outperforms SVM and AdaBoost in accuracy, while SVM excels in ranking emails with the highest AUC-ROC score.</a:t>
            </a:r>
          </a:p>
        </p:txBody>
      </p:sp>
      <p:pic>
        <p:nvPicPr>
          <p:cNvPr id="6" name="Picture 2" descr="IMG_256"/>
          <p:cNvPicPr>
            <a:picLocks noChangeAspect="1"/>
          </p:cNvPicPr>
          <p:nvPr/>
        </p:nvPicPr>
        <p:blipFill>
          <a:blip r:embed="rId3"/>
          <a:stretch>
            <a:fillRect/>
          </a:stretch>
        </p:blipFill>
        <p:spPr>
          <a:xfrm>
            <a:off x="1223645" y="2348865"/>
            <a:ext cx="6384290" cy="1103630"/>
          </a:xfrm>
          <a:prstGeom prst="rect">
            <a:avLst/>
          </a:prstGeom>
          <a:noFill/>
          <a:ln w="9525">
            <a:noFill/>
          </a:ln>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7" name="Picture 6"/>
          <p:cNvPicPr>
            <a:picLocks noChangeAspect="1"/>
          </p:cNvPicPr>
          <p:nvPr/>
        </p:nvPicPr>
        <p:blipFill>
          <a:blip r:embed="rId5" cstate="print"/>
          <a:stretch>
            <a:fillRect/>
          </a:stretch>
        </p:blipFill>
        <p:spPr>
          <a:xfrm>
            <a:off x="3059430" y="3644900"/>
            <a:ext cx="3296920" cy="28994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Conclusion</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232" y="201989"/>
            <a:ext cx="2411760" cy="346691"/>
          </a:xfrm>
          <a:prstGeom prst="rect">
            <a:avLst/>
          </a:prstGeom>
        </p:spPr>
      </p:pic>
      <p:sp>
        <p:nvSpPr>
          <p:cNvPr id="6" name="TextBox 5"/>
          <p:cNvSpPr txBox="1"/>
          <p:nvPr/>
        </p:nvSpPr>
        <p:spPr>
          <a:xfrm>
            <a:off x="173014" y="1076076"/>
            <a:ext cx="8784976" cy="5355312"/>
          </a:xfrm>
          <a:prstGeom prst="rect">
            <a:avLst/>
          </a:prstGeom>
          <a:noFill/>
        </p:spPr>
        <p:txBody>
          <a:bodyPr wrap="square">
            <a:spAutoFit/>
          </a:bodyPr>
          <a:lstStyle/>
          <a:p>
            <a:pPr>
              <a:buNone/>
            </a:pPr>
            <a:r>
              <a:rPr lang="en-US" dirty="0"/>
              <a:t>In conclusion, this project has illuminated deep learning's substantial potential in enhancing defenses against the escalating threat of email phishing. By leveraging neural networks' capacity to discern intricate patterns in email data, we've demonstrated the feasibility of developing more sophisticated and robust detection systems.</a:t>
            </a:r>
          </a:p>
          <a:p>
            <a:pPr>
              <a:buNone/>
            </a:pPr>
            <a:r>
              <a:rPr lang="en-US" dirty="0"/>
              <a:t>The findings suggest that deep learning models offer a promising and potentially transformative alternative to traditional rule-based methodologies, which often struggle to maintain efficacy against increasingly sophisticated and adaptive cybercriminal tactics. Specifically, the project has [mention 1-2 key outcomes, e.g., demonstrated the effectiveness of a specific deep learning architecture, or highlighted the importance of certain email features].</a:t>
            </a:r>
          </a:p>
          <a:p>
            <a:pPr>
              <a:buNone/>
            </a:pPr>
            <a:r>
              <a:rPr lang="en-US" dirty="0"/>
              <a:t>While these results are encouraging, the ongoing battle against phishing necessitates continuous vigilance and innovation. Future work could usefully focus on several key areas, including:</a:t>
            </a:r>
          </a:p>
          <a:p>
            <a:pPr>
              <a:buFont typeface="Arial" panose="020B0604020202020204" pitchFamily="34" charset="0"/>
              <a:buChar char="•"/>
            </a:pPr>
            <a:r>
              <a:rPr lang="en-US" dirty="0"/>
              <a:t>Real-time detection: Developing systems capable of analyzing emails in near real-time to proactively prevent user victimization and minimize potential harm.</a:t>
            </a:r>
          </a:p>
          <a:p>
            <a:pPr>
              <a:buFont typeface="Arial" panose="020B0604020202020204" pitchFamily="34" charset="0"/>
              <a:buChar char="•"/>
            </a:pPr>
            <a:r>
              <a:rPr lang="en-US" dirty="0"/>
              <a:t>Explainable AI: Investigating methodologies to enhance deep learning models' transparency and interpretability, enabling security analysts to better understand factors contributing to an email's phishing classification.</a:t>
            </a:r>
          </a:p>
          <a:p>
            <a:r>
              <a:rPr lang="en-US" b="1"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18864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anose="02020404030301010803" pitchFamily="18" charset="0"/>
              </a:rPr>
              <a:t>THANK</a:t>
            </a:r>
            <a:r>
              <a:rPr lang="en-US" sz="7200" dirty="0">
                <a:latin typeface="Garamond" panose="02020404030301010803" pitchFamily="18" charset="0"/>
              </a:rPr>
              <a:t> </a:t>
            </a:r>
            <a:r>
              <a:rPr lang="en-US" sz="7200" dirty="0">
                <a:solidFill>
                  <a:srgbClr val="E31E24"/>
                </a:solidFill>
                <a:latin typeface="Garamond" panose="02020404030301010803" pitchFamily="18" charset="0"/>
              </a:rPr>
              <a:t>YOU</a:t>
            </a:r>
            <a:endParaRPr lang="en-IN" sz="7200" dirty="0">
              <a:latin typeface="Garamond" panose="020204040303010108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706</Words>
  <Application>Microsoft Office PowerPoint</Application>
  <PresentationFormat>On-screen Show (4:3)</PresentationFormat>
  <Paragraphs>88</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Algerian</vt:lpstr>
      <vt:lpstr>Arial</vt:lpstr>
      <vt:lpstr>Calibri</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AMAN SINGH</cp:lastModifiedBy>
  <cp:revision>336</cp:revision>
  <cp:lastPrinted>2022-09-05T08:43:00Z</cp:lastPrinted>
  <dcterms:created xsi:type="dcterms:W3CDTF">2020-01-16T09:05:00Z</dcterms:created>
  <dcterms:modified xsi:type="dcterms:W3CDTF">2025-04-27T16:22:16Z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DA1A90A6F7B04728834740266744AECD_13</vt:lpwstr>
  </property>
  <property fmtid="{D5CDD505-2E9C-101B-9397-08002B2CF9AE}" pid="3" name="KSOProductBuildVer">
    <vt:lpwstr>2057-12.2.0.20326</vt:lpwstr>
  </property>
</Properties>
</file>